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aleway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  <p:embeddedFont>
      <p:font typeface="Lora"/>
      <p:regular r:id="rId24"/>
      <p:bold r:id="rId25"/>
      <p:italic r:id="rId26"/>
      <p:boldItalic r:id="rId27"/>
    </p:embeddedFont>
    <p:embeddedFont>
      <p:font typeface="Quattrocento San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22" Type="http://schemas.openxmlformats.org/officeDocument/2006/relationships/font" Target="fonts/Lato-italic.fntdata"/><Relationship Id="rId21" Type="http://schemas.openxmlformats.org/officeDocument/2006/relationships/font" Target="fonts/Lato-bold.fntdata"/><Relationship Id="rId24" Type="http://schemas.openxmlformats.org/officeDocument/2006/relationships/font" Target="fonts/Lora-regular.fntdata"/><Relationship Id="rId23" Type="http://schemas.openxmlformats.org/officeDocument/2006/relationships/font" Target="fonts/La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ora-italic.fntdata"/><Relationship Id="rId25" Type="http://schemas.openxmlformats.org/officeDocument/2006/relationships/font" Target="fonts/Lora-bold.fntdata"/><Relationship Id="rId28" Type="http://schemas.openxmlformats.org/officeDocument/2006/relationships/font" Target="fonts/QuattrocentoSans-regular.fntdata"/><Relationship Id="rId27" Type="http://schemas.openxmlformats.org/officeDocument/2006/relationships/font" Target="fonts/Lora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Quattrocento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QuattrocentoSans-boldItalic.fntdata"/><Relationship Id="rId30" Type="http://schemas.openxmlformats.org/officeDocument/2006/relationships/font" Target="fonts/QuattrocentoSans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19" Type="http://schemas.openxmlformats.org/officeDocument/2006/relationships/font" Target="fonts/Raleway-boldItalic.fntdata"/><Relationship Id="rId18" Type="http://schemas.openxmlformats.org/officeDocument/2006/relationships/font" Target="fonts/Raleway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892ee7116a_0_6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892ee7116a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892ee7116a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892ee7116a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892ee7116a_0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892ee7116a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892ee7116a_0_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892ee7116a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892ee7116a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892ee7116a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92ee7116a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892ee7116a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92ee7116a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892ee7116a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892ee7116a_0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892ee7116a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892ee7116a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892ee7116a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892ee7116a_0_32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892ee7116a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_1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ctrTitle"/>
          </p:nvPr>
        </p:nvSpPr>
        <p:spPr>
          <a:xfrm>
            <a:off x="996630" y="2003888"/>
            <a:ext cx="45237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cxnSp>
        <p:nvCxnSpPr>
          <p:cNvPr id="84" name="Google Shape;84;p13"/>
          <p:cNvCxnSpPr/>
          <p:nvPr/>
        </p:nvCxnSpPr>
        <p:spPr>
          <a:xfrm>
            <a:off x="-6025" y="3676512"/>
            <a:ext cx="9162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" name="Google Shape;85;p13"/>
          <p:cNvSpPr/>
          <p:nvPr/>
        </p:nvSpPr>
        <p:spPr>
          <a:xfrm>
            <a:off x="1117950" y="3393000"/>
            <a:ext cx="567000" cy="567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>
  <p:cSld name="TITLE_AND_BODY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" name="Google Shape;87;p14"/>
          <p:cNvCxnSpPr/>
          <p:nvPr/>
        </p:nvCxnSpPr>
        <p:spPr>
          <a:xfrm>
            <a:off x="0" y="1131725"/>
            <a:ext cx="13758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" name="Google Shape;88;p14"/>
          <p:cNvSpPr/>
          <p:nvPr/>
        </p:nvSpPr>
        <p:spPr>
          <a:xfrm>
            <a:off x="817475" y="928767"/>
            <a:ext cx="405900" cy="405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4"/>
          <p:cNvSpPr txBox="1"/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b="1" sz="2000">
                <a:latin typeface="Lora"/>
                <a:ea typeface="Lora"/>
                <a:cs typeface="Lora"/>
                <a:sym typeface="L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b="1" sz="2000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b="1" sz="2000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b="1" sz="2000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b="1" sz="2000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b="1" sz="2000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b="1" sz="2000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b="1" sz="2000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b="1" sz="2000"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defRPr>
            </a:lvl9pPr>
          </a:lstStyle>
          <a:p/>
        </p:txBody>
      </p:sp>
      <p:sp>
        <p:nvSpPr>
          <p:cNvPr id="90" name="Google Shape;90;p14"/>
          <p:cNvSpPr txBox="1"/>
          <p:nvPr>
            <p:ph idx="1" type="body"/>
          </p:nvPr>
        </p:nvSpPr>
        <p:spPr>
          <a:xfrm>
            <a:off x="1381250" y="1616470"/>
            <a:ext cx="6809700" cy="31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81000" lvl="0" marL="457200">
              <a:spcBef>
                <a:spcPts val="600"/>
              </a:spcBef>
              <a:spcAft>
                <a:spcPts val="0"/>
              </a:spcAft>
              <a:buClr>
                <a:srgbClr val="FFCD00"/>
              </a:buClr>
              <a:buSzPts val="2400"/>
              <a:buFont typeface="Quattrocento Sans"/>
              <a:buChar char="◉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2000"/>
              <a:buFont typeface="Quattrocento Sans"/>
              <a:buChar char="○"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2000"/>
              <a:buFont typeface="Quattrocento Sans"/>
              <a:buChar char="■"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cxnSp>
        <p:nvCxnSpPr>
          <p:cNvPr id="91" name="Google Shape;91;p14"/>
          <p:cNvCxnSpPr/>
          <p:nvPr/>
        </p:nvCxnSpPr>
        <p:spPr>
          <a:xfrm>
            <a:off x="5265650" y="1131725"/>
            <a:ext cx="38784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" name="Google Shape;92;p14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letely blank">
  <p:cSld name="BLANK_1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transition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/>
        </p:nvSpPr>
        <p:spPr>
          <a:xfrm>
            <a:off x="5673750" y="3127125"/>
            <a:ext cx="3165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Gabriel Pereira e Arthur Hendges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0" name="Google Shape;100;p16"/>
          <p:cNvSpPr txBox="1"/>
          <p:nvPr>
            <p:ph type="ctrTitle"/>
          </p:nvPr>
        </p:nvSpPr>
        <p:spPr>
          <a:xfrm>
            <a:off x="304950" y="371825"/>
            <a:ext cx="85341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Trabalho OpenMP - S</a:t>
            </a:r>
            <a:r>
              <a:rPr lang="pt-BR"/>
              <a:t>imulated Annealing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/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 - Simulated Annealing</a:t>
            </a:r>
            <a:endParaRPr/>
          </a:p>
        </p:txBody>
      </p:sp>
      <p:sp>
        <p:nvSpPr>
          <p:cNvPr id="106" name="Google Shape;106;p17"/>
          <p:cNvSpPr txBox="1"/>
          <p:nvPr>
            <p:ph idx="1" type="body"/>
          </p:nvPr>
        </p:nvSpPr>
        <p:spPr>
          <a:xfrm>
            <a:off x="1381250" y="1616470"/>
            <a:ext cx="6809700" cy="31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◉"/>
            </a:pPr>
            <a:r>
              <a:rPr lang="pt-BR"/>
              <a:t>Heurística </a:t>
            </a:r>
            <a:r>
              <a:rPr lang="pt-BR"/>
              <a:t>probabilística;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◉"/>
            </a:pPr>
            <a:r>
              <a:rPr lang="pt-BR"/>
              <a:t>Baseada no processo da metalúrgica;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◉"/>
            </a:pPr>
            <a:r>
              <a:rPr lang="pt-BR"/>
              <a:t>Explora soluções vizinhas podendo aceitar soluções piores com certa probabilidade;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◉"/>
            </a:pPr>
            <a:r>
              <a:rPr lang="pt-BR"/>
              <a:t>Energia/custo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Paralelização</a:t>
            </a:r>
            <a:endParaRPr/>
          </a:p>
        </p:txBody>
      </p:sp>
      <p:sp>
        <p:nvSpPr>
          <p:cNvPr id="112" name="Google Shape;112;p18"/>
          <p:cNvSpPr txBox="1"/>
          <p:nvPr>
            <p:ph idx="1" type="body"/>
          </p:nvPr>
        </p:nvSpPr>
        <p:spPr>
          <a:xfrm>
            <a:off x="1381250" y="1616470"/>
            <a:ext cx="6809700" cy="31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◉"/>
            </a:pPr>
            <a:r>
              <a:rPr lang="pt-BR"/>
              <a:t>Cálculo da energia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◉"/>
            </a:pPr>
            <a:r>
              <a:rPr lang="pt-BR"/>
              <a:t>Múltiplas</a:t>
            </a:r>
            <a:r>
              <a:rPr lang="pt-BR"/>
              <a:t> </a:t>
            </a:r>
            <a:r>
              <a:rPr lang="pt-BR"/>
              <a:t>instâncias</a:t>
            </a:r>
            <a:r>
              <a:rPr lang="pt-BR"/>
              <a:t> do algoritmo com seeds diferentes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/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Pontos de paralelização</a:t>
            </a:r>
            <a:endParaRPr/>
          </a:p>
        </p:txBody>
      </p:sp>
      <p:sp>
        <p:nvSpPr>
          <p:cNvPr id="118" name="Google Shape;118;p19"/>
          <p:cNvSpPr txBox="1"/>
          <p:nvPr>
            <p:ph idx="1" type="body"/>
          </p:nvPr>
        </p:nvSpPr>
        <p:spPr>
          <a:xfrm>
            <a:off x="1381250" y="1616475"/>
            <a:ext cx="2766900" cy="31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◉"/>
            </a:pPr>
            <a:r>
              <a:rPr lang="pt-BR"/>
              <a:t>Distribuição da soma entre threads;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◉"/>
            </a:pPr>
            <a:r>
              <a:rPr lang="pt-BR"/>
              <a:t>Eficaz para muitos pontos;</a:t>
            </a:r>
            <a:endParaRPr/>
          </a:p>
        </p:txBody>
      </p:sp>
      <p:pic>
        <p:nvPicPr>
          <p:cNvPr id="119" name="Google Shape;119;p19" title="state_parallel.png"/>
          <p:cNvPicPr preferRelativeResize="0"/>
          <p:nvPr/>
        </p:nvPicPr>
        <p:blipFill rotWithShape="1">
          <a:blip r:embed="rId3">
            <a:alphaModFix/>
          </a:blip>
          <a:srcRect b="-3359" l="-1030" r="1030" t="3360"/>
          <a:stretch/>
        </p:blipFill>
        <p:spPr>
          <a:xfrm>
            <a:off x="3579875" y="1389328"/>
            <a:ext cx="5751325" cy="322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Pontos de paralelização</a:t>
            </a:r>
            <a:endParaRPr/>
          </a:p>
        </p:txBody>
      </p:sp>
      <p:sp>
        <p:nvSpPr>
          <p:cNvPr id="125" name="Google Shape;125;p20"/>
          <p:cNvSpPr txBox="1"/>
          <p:nvPr>
            <p:ph idx="1" type="body"/>
          </p:nvPr>
        </p:nvSpPr>
        <p:spPr>
          <a:xfrm>
            <a:off x="1381250" y="1616475"/>
            <a:ext cx="2766900" cy="31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◉"/>
            </a:pPr>
            <a:r>
              <a:rPr lang="pt-BR"/>
              <a:t>Execução independente por seed;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◉"/>
            </a:pPr>
            <a:r>
              <a:rPr lang="pt-BR"/>
              <a:t>Exploração de múltiplos mínimos locais</a:t>
            </a:r>
            <a:r>
              <a:rPr lang="pt-BR"/>
              <a:t>;</a:t>
            </a:r>
            <a:endParaRPr/>
          </a:p>
        </p:txBody>
      </p:sp>
      <p:pic>
        <p:nvPicPr>
          <p:cNvPr id="126" name="Google Shape;126;p20" title="seed_paralle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1975" y="321850"/>
            <a:ext cx="5242025" cy="466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 txBox="1"/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Resultados</a:t>
            </a:r>
            <a:endParaRPr/>
          </a:p>
        </p:txBody>
      </p:sp>
      <p:pic>
        <p:nvPicPr>
          <p:cNvPr id="132" name="Google Shape;13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8238" y="1385212"/>
            <a:ext cx="5247524" cy="3506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Resultados</a:t>
            </a:r>
            <a:endParaRPr/>
          </a:p>
        </p:txBody>
      </p:sp>
      <p:pic>
        <p:nvPicPr>
          <p:cNvPr id="138" name="Google Shape;13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8038" y="1441612"/>
            <a:ext cx="5387927" cy="3506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/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Resultados</a:t>
            </a:r>
            <a:endParaRPr/>
          </a:p>
        </p:txBody>
      </p:sp>
      <p:pic>
        <p:nvPicPr>
          <p:cNvPr id="144" name="Google Shape;14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4800" y="1331712"/>
            <a:ext cx="4174406" cy="3506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4"/>
          <p:cNvSpPr txBox="1"/>
          <p:nvPr>
            <p:ph type="title"/>
          </p:nvPr>
        </p:nvSpPr>
        <p:spPr>
          <a:xfrm>
            <a:off x="1381250" y="896112"/>
            <a:ext cx="3878400" cy="43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Considerações</a:t>
            </a:r>
            <a:endParaRPr/>
          </a:p>
        </p:txBody>
      </p:sp>
      <p:sp>
        <p:nvSpPr>
          <p:cNvPr id="150" name="Google Shape;150;p24"/>
          <p:cNvSpPr txBox="1"/>
          <p:nvPr>
            <p:ph idx="1" type="body"/>
          </p:nvPr>
        </p:nvSpPr>
        <p:spPr>
          <a:xfrm>
            <a:off x="1381250" y="1616470"/>
            <a:ext cx="6809700" cy="31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◉"/>
            </a:pPr>
            <a:r>
              <a:rPr lang="pt-BR"/>
              <a:t>Quanto maior o N mais cache bound o algoritmo ficou;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◉"/>
            </a:pPr>
            <a:r>
              <a:rPr lang="pt-BR"/>
              <a:t>Quanto maior o número de threads mais memory bound;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5" name="Google Shape;155;p25"/>
          <p:cNvCxnSpPr/>
          <p:nvPr/>
        </p:nvCxnSpPr>
        <p:spPr>
          <a:xfrm>
            <a:off x="6450" y="1428750"/>
            <a:ext cx="23973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" name="Google Shape;156;p25"/>
          <p:cNvSpPr txBox="1"/>
          <p:nvPr>
            <p:ph idx="4294967295" type="ctrTitle"/>
          </p:nvPr>
        </p:nvSpPr>
        <p:spPr>
          <a:xfrm>
            <a:off x="2371500" y="933975"/>
            <a:ext cx="4908000" cy="11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0"/>
              <a:t>Obrigado</a:t>
            </a:r>
            <a:r>
              <a:rPr lang="pt-BR" sz="5000"/>
              <a:t>!</a:t>
            </a:r>
            <a:endParaRPr sz="5000"/>
          </a:p>
        </p:txBody>
      </p:sp>
      <p:cxnSp>
        <p:nvCxnSpPr>
          <p:cNvPr id="157" name="Google Shape;157;p25"/>
          <p:cNvCxnSpPr/>
          <p:nvPr/>
        </p:nvCxnSpPr>
        <p:spPr>
          <a:xfrm>
            <a:off x="5589800" y="1428750"/>
            <a:ext cx="35541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" name="Google Shape;158;p25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